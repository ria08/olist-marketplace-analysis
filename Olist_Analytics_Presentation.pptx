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29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DA7-49E2-8BFE-8D91408211F0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A7-49E2-8BFE-8D91408211F0}"/>
              </c:ext>
            </c:extLst>
          </c:dPt>
          <c:dPt>
            <c:idx val="2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A7-49E2-8BFE-8D91408211F0}"/>
              </c:ext>
            </c:extLst>
          </c:dPt>
          <c:dPt>
            <c:idx val="3"/>
            <c:bubble3D val="0"/>
            <c:spPr>
              <a:solidFill>
                <a:srgbClr val="2563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A7-49E2-8BFE-8D91408211F0}"/>
              </c:ext>
            </c:extLst>
          </c:dPt>
          <c:dLbls>
            <c:dLbl>
              <c:idx val="0"/>
              <c:layout>
                <c:manualLayout>
                  <c:x val="0.15350877192982457"/>
                  <c:y val="3.1746031746031744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DA7-49E2-8BFE-8D91408211F0}"/>
                </c:ext>
              </c:extLst>
            </c:dLbl>
            <c:dLbl>
              <c:idx val="1"/>
              <c:layout>
                <c:manualLayout>
                  <c:x val="-0.14985380116959066"/>
                  <c:y val="-3.9682539682540409E-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DA7-49E2-8BFE-8D91408211F0}"/>
                </c:ext>
              </c:extLst>
            </c:dLbl>
            <c:dLbl>
              <c:idx val="2"/>
              <c:layout>
                <c:manualLayout>
                  <c:x val="-6.2134502923976605E-2"/>
                  <c:y val="-0.10714285714285716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DA7-49E2-8BFE-8D91408211F0}"/>
                </c:ext>
              </c:extLst>
            </c:dLbl>
            <c:dLbl>
              <c:idx val="3"/>
              <c:layout>
                <c:manualLayout>
                  <c:x val="-6.7007023200105225E-17"/>
                  <c:y val="-0.12698412698412698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DA7-49E2-8BFE-8D91408211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At Risk</c:v>
                </c:pt>
                <c:pt idx="1">
                  <c:v>Recent Buyers</c:v>
                </c:pt>
                <c:pt idx="2">
                  <c:v>Top Customers</c:v>
                </c:pt>
                <c:pt idx="3">
                  <c:v>Loyal &amp; Frequent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58.36</c:v>
                </c:pt>
                <c:pt idx="1">
                  <c:v>32.99</c:v>
                </c:pt>
                <c:pt idx="2">
                  <c:v>6.93</c:v>
                </c:pt>
                <c:pt idx="3">
                  <c:v>1.72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A7-49E2-8BFE-8D91408211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Purchase Rate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F7-47F8-8304-3EA796468A4E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F7-47F8-8304-3EA796468A4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Control (No Coupon)</c:v>
                </c:pt>
                <c:pt idx="1">
                  <c:v>Treatment (10% Coupon)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2.95</c:v>
                </c:pt>
                <c:pt idx="1">
                  <c:v>4.09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DF7-47F8-8304-3EA796468A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28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ANALYTICS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3C5FD"/>
                </a:solidFill>
              </a:rPr>
              <a:t>Olist Marketplace Analytics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Solving a 97% Retention Crisis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Through Data-Driven Experimentation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</a:rPr>
              <a:t>By-Ria Singh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99K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0965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</a:rPr>
              <a:t>Orders Analyzed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Full dataset scope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51760" y="36576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65176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96K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0965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Across 27 states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90K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54880" y="40965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</a:rPr>
              <a:t>A/B Test Sample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First-time buyers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58000" y="3657600"/>
            <a:ext cx="192024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R$4.6M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409651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3C5FD"/>
                </a:solidFill>
              </a:rPr>
              <a:t>Retention Opportunity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42976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Recent Buyers segment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93B"/>
                </a:solidFill>
              </a:rPr>
              <a:t>A Retention Crisis Threatening Sustainable Growth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</a:rPr>
              <a:t>Olist faces a severe customer retention crisis — at 97% one-time buyer rate, the platform dramatically underperforms against the 25–30% industry benchmark for repeat purchases.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84048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Breakdown (Delivered Orders)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240280"/>
            <a:ext cx="1645920" cy="9784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One-Time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Buyers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90,557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CA5A5"/>
                </a:solidFill>
              </a:rPr>
              <a:t>97% of base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2240280"/>
            <a:ext cx="1645920" cy="9784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68880" y="22860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Buyers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6517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2,801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30175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3% of base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2735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Repeat buyers are worth 1.9× more — R$260 vs R$138 avg LTV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691640"/>
            <a:ext cx="41148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8288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5F"/>
                </a:solidFill>
              </a:rPr>
              <a:t>Business Context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17627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</a:rPr>
              <a:t>Brazilian B2B2C marketplace aggregator connecting 3,000+ merchants to major e-commerce platforms including Mercado Livre, B2W, and Via Varejo. Handles logistics, payments, and customer service for small and medium merchants.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154680"/>
            <a:ext cx="384048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563A8"/>
                </a:solidFill>
              </a:rPr>
              <a:t>Dataset: Sep 2016 – Oct 2018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563A8"/>
                </a:solidFill>
              </a:rPr>
              <a:t>99,441 orders  |  96,096 customers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2563A8"/>
                </a:solidFill>
              </a:rPr>
              <a:t>27 states  |  73 categories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DATA ENGINEERING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Medallion Data Warehouse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Bronze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664208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Raw ingestion of 9 CSV files, 99K orders. Preserves source fidelity with audit timestamps.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143000"/>
            <a:ext cx="260604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86200" y="1234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Silver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1664208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Data quality transformations — type casting, deduplication (789 duplicate review IDs removed), defensive SQL patterns.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06040" cy="2057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123444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3A5F"/>
                </a:solidFill>
              </a:rPr>
              <a:t>Gold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1664208"/>
            <a:ext cx="23957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</a:rPr>
              <a:t>Analytics-ready star schema (1 fact table + 5 dimensions), pre-aggregated metrics, BI-optimized for Power BI.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35808" y="2029968"/>
            <a:ext cx="2560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870448" y="2029968"/>
            <a:ext cx="25603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3375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</a:rPr>
              <a:t>Key Findings Enabled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4023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A8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794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Retention Crisis — Only 3% repeat rate vs 25–30% industry benchmark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749040"/>
            <a:ext cx="4023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37490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A8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3794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Delivery Impact — Late deliveries cause 4.4×–8.3× more bad reviews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315968"/>
            <a:ext cx="402336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" y="43159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43616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Geographic Risk — 64.5% of customers in top 3 states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4315968"/>
            <a:ext cx="4023360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0600" y="431596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436168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</a:rPr>
              <a:t>No Hero Category — Top category only 9.3% revenue — brand identity challenge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21945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CUSTOMER SEGMENTATION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RFM Customer Segmentation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93K customers segmented into 5 behavioral groups using Recency, Frequency, and Monetary analysis to identify highest-value intervention targets.</a:t>
            </a:r>
            <a:endParaRPr lang="en-US" sz="115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679371535"/>
              </p:ext>
            </p:extLst>
          </p:nvPr>
        </p:nvGraphicFramePr>
        <p:xfrm>
          <a:off x="274320" y="1508760"/>
          <a:ext cx="3474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977640" y="1508760"/>
            <a:ext cx="475488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069080" y="15453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</a:rPr>
              <a:t>58.2%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At Risk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069080" y="18928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54,333 customers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54880" y="18470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Single purchase, not recent, disengaged. Represent 56% of revenue despite low engagement.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77640" y="2377440"/>
            <a:ext cx="4754880" cy="77724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069080" y="24140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32.9%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5488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Recent Buyers ⭐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69080" y="27614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</a:rPr>
              <a:t>30,712 customers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54880" y="27157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Purchased recently but only once. Primary conversion target. R$4.6M opportunity if converted.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977640" y="3246120"/>
            <a:ext cx="475488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069080" y="32826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A8"/>
                </a:solidFill>
              </a:rPr>
              <a:t>6.9%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54880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Top Customers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069080" y="36301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563A8"/>
                </a:solidFill>
              </a:rPr>
              <a:t>6,449 customers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54880" y="35844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Recent, frequent, high-spend. Generate 13.5% of revenue from only 7% of base.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977640" y="4114800"/>
            <a:ext cx="4754880" cy="7772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06908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</a:rPr>
              <a:t>&lt;2%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75488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Loyal &amp; Frequent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069080" y="44988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580C"/>
                </a:solidFill>
              </a:rPr>
              <a:t>~1,604 customers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54880" y="4453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</a:rPr>
              <a:t>Small but proven repeat behavior. Maintain with VIP benefits and recognition programs.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EXPERIMENT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A/B Test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1704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563A8"/>
                </a:solidFill>
              </a:rPr>
              <a:t>Hypothesis: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26464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E293B"/>
                </a:solidFill>
              </a:rPr>
              <a:t>A 10% discount coupon for second purchase, delivered 24 hours post-purchase and valid for 30 days, will significantly increase repeat purchase rate among first-time buyers.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023360" cy="2606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1214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Why Coupons vs. Fixing Delivery?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 dual-track strategy: test the monetary incentive (results measurable in 30 days) while operations simultaneously works on delivery improvements (6–12 month timeline).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This validates whether incentive alone drives repeat behavior — or if customer satisfaction must improve first.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023360" cy="2606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0600" y="212140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 Setup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4871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Population: 90,557 first-time buyers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Control: 45,200 customers (no intervention)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30723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Treatment: 45,357 customers (10% coupon)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364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Duration: 30-day observation period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6576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Primary Metric: Repeat purchase rate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9502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Analysis: Two-proportion z-test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00600" y="42428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▸  </a:t>
            </a:r>
            <a:r>
              <a:rPr lang="en-US" sz="1050" dirty="0">
                <a:solidFill>
                  <a:srgbClr val="E2E8F0"/>
                </a:solidFill>
              </a:rPr>
              <a:t>Split: Random 50/50 for unbiased comparison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EXPERIMENT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A/B Test Execution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44168"/>
            <a:ext cx="411480" cy="41148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3624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Population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165506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90,557 first-time buyers identified from the full customer dataset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023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983480" y="134416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98348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04688" y="136245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Random Split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04688" y="165506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50/50 random assignment ensures unbiased comparison between groups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4023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578608"/>
            <a:ext cx="411480" cy="4114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596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Control Group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28895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45,200 customers receive no intervention — baseline behavior measured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468880"/>
            <a:ext cx="4023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983480" y="2578608"/>
            <a:ext cx="411480" cy="41148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8348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04688" y="2596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Treatment Group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4688" y="288950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45,357 customers receive 10% coupon 24hrs after purchase, valid 30 days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4023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94360" y="381304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38313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Measure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412394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30-day observation window: track and compare repeat purchase rates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703320"/>
            <a:ext cx="4023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983480" y="3813048"/>
            <a:ext cx="411480" cy="4114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83480" y="3813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04688" y="383133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Analyze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04688" y="4123944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Two-proportion z-test for statistical significance (α = 0.05)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18872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Test Results &amp; Statistical Validation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2024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4748B"/>
                </a:solidFill>
              </a:rPr>
              <a:t>2.95%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Control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Baseline repeat purchase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28016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4.09%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719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Treatment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With 10% coupon intervention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2024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A8"/>
                </a:solidFill>
              </a:rPr>
              <a:t>+38.6%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1719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Relative Lift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+1.14 pp absolute increase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920240" cy="1280160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F46"/>
                </a:solidFill>
              </a:rPr>
              <a:t>96.9%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171907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Statistical Power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938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p-value &lt; 0.001, highly significant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" y="2560320"/>
          <a:ext cx="82296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48640" y="47274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65F46"/>
                </a:solidFill>
              </a:rPr>
              <a:t>✓  Statistically Significant — 95% Confidence Interval: [0.68%, 2.12%]  |  Simulation note: Historical data used to demonstrate proper A/B testing methodology.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Business Impact &amp; ROI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75569"/>
                </a:solidFill>
              </a:rPr>
              <a:t>Monthly projection based on 10,000 new customers per month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8404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</a:rPr>
              <a:t>Without Coupon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295 </a:t>
            </a:r>
            <a:r>
              <a:rPr lang="en-US" sz="1150" dirty="0">
                <a:solidFill>
                  <a:srgbClr val="475569"/>
                </a:solidFill>
              </a:rPr>
              <a:t>repeat buyers (2.95% baseline)
</a:t>
            </a:r>
            <a:r>
              <a:rPr lang="en-US" sz="1150" b="1" dirty="0">
                <a:solidFill>
                  <a:srgbClr val="1E293B"/>
                </a:solidFill>
              </a:rPr>
              <a:t>R$44,250 </a:t>
            </a:r>
            <a:r>
              <a:rPr lang="en-US" sz="1150" dirty="0">
                <a:solidFill>
                  <a:srgbClr val="475569"/>
                </a:solidFill>
              </a:rPr>
              <a:t>incremental revenue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411480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With Coupon  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84708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409 </a:t>
            </a:r>
            <a:r>
              <a:rPr lang="en-US" sz="1100" dirty="0">
                <a:solidFill>
                  <a:srgbClr val="475569"/>
                </a:solidFill>
              </a:rPr>
              <a:t>repeat buyers (4.09%)
</a:t>
            </a:r>
            <a:r>
              <a:rPr lang="en-US" sz="1100" b="1" dirty="0">
                <a:solidFill>
                  <a:srgbClr val="0D9488"/>
                </a:solidFill>
              </a:rPr>
              <a:t>+114 </a:t>
            </a:r>
            <a:r>
              <a:rPr lang="en-US" sz="1100" dirty="0">
                <a:solidFill>
                  <a:srgbClr val="475569"/>
                </a:solidFill>
              </a:rPr>
              <a:t>additional repeat buyers
</a:t>
            </a:r>
            <a:r>
              <a:rPr lang="en-US" sz="1100" b="1" dirty="0">
                <a:solidFill>
                  <a:srgbClr val="1E293B"/>
                </a:solidFill>
              </a:rPr>
              <a:t>R$61,350 </a:t>
            </a:r>
            <a:r>
              <a:rPr lang="en-US" sz="1100" dirty="0">
                <a:solidFill>
                  <a:srgbClr val="475569"/>
                </a:solidFill>
              </a:rPr>
              <a:t>incremental revenue (+R$17,100)
</a:t>
            </a:r>
            <a:r>
              <a:rPr lang="en-US" sz="1100" b="1" dirty="0">
                <a:solidFill>
                  <a:srgbClr val="DC2626"/>
                </a:solidFill>
              </a:rPr>
              <a:t>R$6,135 </a:t>
            </a:r>
            <a:r>
              <a:rPr lang="en-US" sz="1100" dirty="0">
                <a:solidFill>
                  <a:srgbClr val="475569"/>
                </a:solidFill>
              </a:rPr>
              <a:t>coupon cost  →  NET GAIN: </a:t>
            </a:r>
            <a:r>
              <a:rPr lang="en-US" sz="1100" b="1" dirty="0">
                <a:solidFill>
                  <a:srgbClr val="0D9488"/>
                </a:solidFill>
              </a:rPr>
              <a:t>+R$11,700/mo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822960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ROI Summary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21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186%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ROI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2428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R$11,700 gain / R$6,135 investment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697480" y="3721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Month 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97480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Payback Period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97480" y="42428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Immediate return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3721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R$140,400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Annual Net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42428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From coupon program alone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12280" y="37216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+1,368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40416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Repeat Customers/yr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4242816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Annual incremental gain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Strategic Recommendations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25880" y="1097280"/>
            <a:ext cx="502920" cy="502920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27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A8"/>
                </a:solidFill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Weeks 1–4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502920" cy="5029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6052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627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8105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Months 1–3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95160" y="1097280"/>
            <a:ext cx="502920" cy="502920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9516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0" y="16276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Phase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8105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Quarters 1–2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15568" y="1348740"/>
            <a:ext cx="64465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2121408"/>
            <a:ext cx="8229600" cy="26060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A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2121408"/>
            <a:ext cx="8229600" cy="38404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21305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1: Weeks 1–4  —  Quick Wins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" y="26334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8"/>
                </a:solidFill>
              </a:rPr>
              <a:t>🎟  Coupon Soft Launch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2907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Deploy 10% second-purchase coupon to 25% of new customers. Monitor redemption rate and incremental revenue before full rollout.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8"/>
                </a:solidFill>
              </a:rPr>
              <a:t>📧  Automated Onboarding Email Series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Implement post-purchase email automation (24–48 hrs). Personalized product recommendations and engagement triggers.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39502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A8"/>
                </a:solidFill>
              </a:rPr>
              <a:t>🔄  Win-Back Campaign for At Risk Segment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422452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Target 54,333 disengaged customers with reactivation incentives. They represent 56% of revenue — high recapture value.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Strategic Roadmap — Phases 2 &amp; 3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02336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11064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2: Months 1–3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👑  VIP Program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Build exclusive VIP program for 6,449 Top Customers who generate 13.5% of revenue from just 7% of the base.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58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⭐  Loyalty Points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532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Launch points-based rewards for repeat buyers. Gamify re-engagement and incentivize frequency.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916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🚚  Delivery Improvement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91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Reduce late delivery rate from 6.6% to 3%. Late deliveries cause 4.4×–8.3× more negative reviews.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097280"/>
            <a:ext cx="4023360" cy="2514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4023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110642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3: Quarters 1–2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🗺  Geographic Expansion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874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Reduce concentration risk in SP/RJ/MG. Currently 64.5% of customers concentrated in only 3 states.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258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🏷  Tiered Membership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5328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Build tier-based membership program aligned to RFM segments (At Risk → Loyal &amp; Frequent).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916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🤖  Predictive Churn Modeling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1912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Deploy ML model to identify at-risk customers proactively — before they churn rather than after.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Validated Impact Targets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096512"/>
            <a:ext cx="2606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94360" y="4133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R$4.6M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" y="4389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Opportunity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4360" y="4581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Converting 30,712 Recent Buyers segment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4096512"/>
            <a:ext cx="2606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291840" y="4096512"/>
            <a:ext cx="54864" cy="8046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29000" y="4133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A8"/>
                </a:solidFill>
              </a:rPr>
              <a:t>R$140K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29000" y="4389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Annual Recurring Revenue Opportunity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29000" y="4581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From coupon program @ 186% ROI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4096512"/>
            <a:ext cx="260604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26480" y="4096512"/>
            <a:ext cx="54864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63640" y="4133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3% → 10%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63640" y="4389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Repeat Rate Target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458114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Multi-program approach across all phases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A8"/>
                </a:solidFill>
              </a:rPr>
              <a:t>TECHNICAL STACK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Technical Implementation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97480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         SQL &amp; Data 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Medallion architecture (Bronze / Silver / Gold layers)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Star schema: 1 fact table + 5 dimensions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Defensive SQL patterns — CTEs for pre-aggregation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Prevented cartesian products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564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Multi-layer data quality validation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89534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Deduplication, type casting, standardization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143000"/>
            <a:ext cx="2697480" cy="3657600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91840" y="114300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83280" y="116128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            Python &amp; Analytics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170078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RFM segmentation via quintile scoring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3969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Two-proportion z-test for A/B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5786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Statistical power analysis (96.9% achieved)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01752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Effect size calculations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34564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Confidence interval computation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389534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Pandas, SciPy, NumPy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143000"/>
            <a:ext cx="2697480" cy="3657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17920" y="1143000"/>
            <a:ext cx="2697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09360" y="116128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              Power BI Visualization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170078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4-page executive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139696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Pages: Business Performance, Customer Analytics, Product &amp; Geography, A/B Results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578608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Advanced DAX measures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017520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Bidirectional filtering implemented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345643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Star schema semantic model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3895344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</a:rPr>
              <a:t>▸  </a:t>
            </a:r>
            <a:r>
              <a:rPr lang="en-US" sz="1000" dirty="0">
                <a:solidFill>
                  <a:srgbClr val="1E293B"/>
                </a:solidFill>
              </a:rPr>
              <a:t>BI-optimized for performance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55448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TAKEAWAY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Crisis to Opportunity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BD5E1"/>
                </a:solidFill>
              </a:rPr>
              <a:t>Identified a R$4.6M retention opportunity in the Recent Buyers segment through RFM analysis and validated a 10% coupon intervention achieving 186% ROI through rigorous statistical experimentation.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260604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</a:rPr>
              <a:t>97%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One-Time Buyer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809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90,557 customers diagnosed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2084832"/>
            <a:ext cx="260604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2176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</a:rPr>
              <a:t>+38.6%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91840" y="27249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Relative Lift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9809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p &lt; 0.001, highly significant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2084832"/>
            <a:ext cx="2606040" cy="13716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26480" y="21762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</a:rPr>
              <a:t>186%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126480" y="272491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ROI Opportunity Validated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2980944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R$140K annual recurring revenue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Skills Demonstrated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260604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913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  </a:t>
            </a:r>
            <a:r>
              <a:rPr lang="en-US" sz="1100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913632"/>
            <a:ext cx="260604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83280" y="3913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  </a:t>
            </a:r>
            <a:r>
              <a:rPr lang="en-US" sz="1100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913632"/>
            <a:ext cx="260604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17920" y="39136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3  </a:t>
            </a:r>
            <a:r>
              <a:rPr lang="en-US" sz="1100" dirty="0">
                <a:solidFill>
                  <a:srgbClr val="FFFFFF"/>
                </a:solidFill>
              </a:rPr>
              <a:t>Statistical Testing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325112"/>
            <a:ext cx="260604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48640" y="43251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4  </a:t>
            </a:r>
            <a:r>
              <a:rPr lang="en-US" sz="1100" dirty="0">
                <a:solidFill>
                  <a:srgbClr val="FFFFFF"/>
                </a:solidFill>
              </a:rPr>
              <a:t>A/B Testing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91840" y="4325112"/>
            <a:ext cx="260604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83280" y="43251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5  </a:t>
            </a:r>
            <a:r>
              <a:rPr lang="en-US" sz="1100" dirty="0">
                <a:solidFill>
                  <a:srgbClr val="FFFFFF"/>
                </a:solidFill>
              </a:rPr>
              <a:t>Data Modeling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4325112"/>
            <a:ext cx="2606040" cy="3200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217920" y="432511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6  </a:t>
            </a:r>
            <a:r>
              <a:rPr lang="en-US" sz="1100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029968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93C5FD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1362</Words>
  <Application>Microsoft Office PowerPoint</Application>
  <PresentationFormat>On-screen Show (16:9)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Marketplace Analytics</dc:title>
  <dc:subject>PptxGenJS Presentation</dc:subject>
  <dc:creator>PptxGenJS</dc:creator>
  <cp:lastModifiedBy>Ria Singh</cp:lastModifiedBy>
  <cp:revision>3</cp:revision>
  <dcterms:created xsi:type="dcterms:W3CDTF">2026-03-06T09:14:47Z</dcterms:created>
  <dcterms:modified xsi:type="dcterms:W3CDTF">2026-03-06T09:29:17Z</dcterms:modified>
</cp:coreProperties>
</file>